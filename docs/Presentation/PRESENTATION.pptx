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1" r:id="rId5"/>
    <p:sldId id="272" r:id="rId6"/>
    <p:sldId id="275" r:id="rId7"/>
    <p:sldId id="261" r:id="rId8"/>
    <p:sldId id="262" r:id="rId9"/>
    <p:sldId id="263" r:id="rId10"/>
    <p:sldId id="280" r:id="rId11"/>
    <p:sldId id="279" r:id="rId12"/>
    <p:sldId id="276" r:id="rId13"/>
    <p:sldId id="264" r:id="rId14"/>
    <p:sldId id="277" r:id="rId15"/>
    <p:sldId id="265" r:id="rId16"/>
    <p:sldId id="266" r:id="rId17"/>
    <p:sldId id="267" r:id="rId18"/>
    <p:sldId id="278" r:id="rId1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E14C9F5-EC72-42D0-B2B6-CF4E28AC30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>
        <p:scale>
          <a:sx n="66" d="100"/>
          <a:sy n="66" d="100"/>
        </p:scale>
        <p:origin x="61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925236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22713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Google Shape;2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460519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" name="Google Shape;2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4844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" name="Google Shape;2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44463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2" name="Google Shape;4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94916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Google Shape;5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33587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3" name="Google Shape;6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38747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" name="Google Shape;78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8440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8" name="Google Shape;88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70943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8" name="Google Shape;88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15837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8" name="Google Shape;88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</a:t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04352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13</a:t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80102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6936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58413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6838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>
            <a:alpha val="98823"/>
          </a:srgbClr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731520" y="82296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8C8"/>
              </a:buClr>
              <a:buSzPts val="1400"/>
              <a:buFont typeface="Calibri" panose="020F0502020204030204"/>
              <a:buNone/>
            </a:pPr>
            <a:r>
              <a:rPr lang="en-US" sz="1400" b="0" i="0" u="none" strike="noStrike" cap="none">
                <a:solidFill>
                  <a:srgbClr val="A0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CS254: Database Systems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 panose="020F0502020204030204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Part 1</a:t>
            </a:r>
            <a:endParaRPr sz="4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31520" y="242316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</a:pP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2286000" y="3235235"/>
            <a:ext cx="4572000" cy="1234440"/>
          </a:xfrm>
          <a:prstGeom prst="rect">
            <a:avLst/>
          </a:prstGeom>
          <a:solidFill>
            <a:srgbClr val="2A2A4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331720" y="3246120"/>
            <a:ext cx="44805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Faizan Muhammad BSCS25040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Shahbaz Hussain BSCS25130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Talha Sami BSCS25116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Abdul Moiz BSCS25134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574766" y="201168"/>
            <a:ext cx="811203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1A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339634" y="384048"/>
            <a:ext cx="8347166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Organisation Overview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429768" y="137160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Shape 4"/>
          <p:cNvSpPr/>
          <p:nvPr/>
        </p:nvSpPr>
        <p:spPr>
          <a:xfrm>
            <a:off x="365760" y="1105833"/>
            <a:ext cx="4023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5"/>
          <p:cNvSpPr/>
          <p:nvPr/>
        </p:nvSpPr>
        <p:spPr>
          <a:xfrm>
            <a:off x="365760" y="1105833"/>
            <a:ext cx="402336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NAME &amp; INDUSTRY</a:t>
            </a:r>
            <a:endParaRPr lang="en-US" sz="1100" dirty="0"/>
          </a:p>
        </p:txBody>
      </p:sp>
      <p:sp>
        <p:nvSpPr>
          <p:cNvPr id="4" name="Shape 6"/>
          <p:cNvSpPr/>
          <p:nvPr/>
        </p:nvSpPr>
        <p:spPr>
          <a:xfrm>
            <a:off x="365760" y="1453305"/>
            <a:ext cx="4023360" cy="685800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7"/>
          <p:cNvSpPr/>
          <p:nvPr/>
        </p:nvSpPr>
        <p:spPr>
          <a:xfrm>
            <a:off x="457200" y="1453305"/>
            <a:ext cx="3840480" cy="6858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altLang="en-US" sz="1300" b="1" dirty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</a:rPr>
              <a:t>Fusion Bites Restaurant Management System</a:t>
            </a:r>
          </a:p>
          <a:p>
            <a:pPr marL="0" indent="0">
              <a:buNone/>
            </a:pPr>
            <a:r>
              <a:rPr lang="en-US" altLang="en-US" sz="1300" dirty="0"/>
              <a:t>Food &amp; Restaurant Industry</a:t>
            </a:r>
          </a:p>
        </p:txBody>
      </p:sp>
      <p:sp>
        <p:nvSpPr>
          <p:cNvPr id="6" name="Shape 8"/>
          <p:cNvSpPr/>
          <p:nvPr/>
        </p:nvSpPr>
        <p:spPr>
          <a:xfrm>
            <a:off x="365760" y="2248833"/>
            <a:ext cx="4023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9"/>
          <p:cNvSpPr/>
          <p:nvPr/>
        </p:nvSpPr>
        <p:spPr>
          <a:xfrm>
            <a:off x="365760" y="2248833"/>
            <a:ext cx="402336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BUSINESS ACTIVITIES</a:t>
            </a:r>
            <a:endParaRPr lang="en-US" sz="1100" dirty="0"/>
          </a:p>
        </p:txBody>
      </p:sp>
      <p:sp>
        <p:nvSpPr>
          <p:cNvPr id="8" name="Shape 10"/>
          <p:cNvSpPr/>
          <p:nvPr/>
        </p:nvSpPr>
        <p:spPr>
          <a:xfrm>
            <a:off x="365760" y="2596305"/>
            <a:ext cx="4023360" cy="1195111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11"/>
          <p:cNvSpPr/>
          <p:nvPr/>
        </p:nvSpPr>
        <p:spPr>
          <a:xfrm>
            <a:off x="457200" y="2596305"/>
            <a:ext cx="3840480" cy="1143000"/>
          </a:xfrm>
          <a:prstGeom prst="rect">
            <a:avLst/>
          </a:prstGeom>
          <a:noFill/>
        </p:spPr>
        <p:txBody>
          <a:bodyPr wrap="square" lIns="76200" tIns="762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 Customer food ordering</a:t>
            </a:r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 Menu browsing &amp; cart management</a:t>
            </a:r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 Online checkout &amp; payment handling</a:t>
            </a:r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 Order tracking &amp; invoice generation</a:t>
            </a:r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 Admin dashboard &amp; sales monitoring</a:t>
            </a:r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 User and order management</a:t>
            </a:r>
          </a:p>
        </p:txBody>
      </p:sp>
      <p:sp>
        <p:nvSpPr>
          <p:cNvPr id="10" name="Shape 12"/>
          <p:cNvSpPr/>
          <p:nvPr/>
        </p:nvSpPr>
        <p:spPr>
          <a:xfrm>
            <a:off x="4754880" y="1105833"/>
            <a:ext cx="4023360" cy="347472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1" name="Text 13"/>
          <p:cNvSpPr/>
          <p:nvPr/>
        </p:nvSpPr>
        <p:spPr>
          <a:xfrm>
            <a:off x="4754880" y="1105833"/>
            <a:ext cx="402336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A RELATIONAL DATABASE?</a:t>
            </a:r>
            <a:endParaRPr lang="en-US" sz="1100" dirty="0"/>
          </a:p>
        </p:txBody>
      </p:sp>
      <p:sp>
        <p:nvSpPr>
          <p:cNvPr id="12" name="Shape 14"/>
          <p:cNvSpPr/>
          <p:nvPr/>
        </p:nvSpPr>
        <p:spPr>
          <a:xfrm>
            <a:off x="4754880" y="1453305"/>
            <a:ext cx="4023360" cy="438912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5"/>
          <p:cNvSpPr/>
          <p:nvPr/>
        </p:nvSpPr>
        <p:spPr>
          <a:xfrm>
            <a:off x="4751705" y="1457115"/>
            <a:ext cx="73152" cy="438912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4" name="Text 16"/>
          <p:cNvSpPr/>
          <p:nvPr/>
        </p:nvSpPr>
        <p:spPr>
          <a:xfrm>
            <a:off x="4949825" y="1453515"/>
            <a:ext cx="3782695" cy="37465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Data Consistency:</a:t>
            </a:r>
            <a:r>
              <a:rPr lang="en-US" sz="1000" b="1" dirty="0">
                <a:solidFill>
                  <a:srgbClr val="1A1A2E"/>
                </a:solidFill>
              </a:rPr>
              <a:t> </a:t>
            </a:r>
            <a:r>
              <a:rPr lang="en-US" altLang="en-US" sz="1000" dirty="0"/>
              <a:t>Foreign keys maintain valid relationships between users, orders, payments, and menu items.</a:t>
            </a:r>
          </a:p>
        </p:txBody>
      </p:sp>
      <p:sp>
        <p:nvSpPr>
          <p:cNvPr id="15" name="Shape 17"/>
          <p:cNvSpPr/>
          <p:nvPr/>
        </p:nvSpPr>
        <p:spPr>
          <a:xfrm>
            <a:off x="4754880" y="2002155"/>
            <a:ext cx="4023360" cy="551815"/>
          </a:xfrm>
          <a:prstGeom prst="rect">
            <a:avLst/>
          </a:prstGeom>
          <a:solidFill>
            <a:srgbClr val="DDE8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8"/>
          <p:cNvSpPr/>
          <p:nvPr/>
        </p:nvSpPr>
        <p:spPr>
          <a:xfrm>
            <a:off x="4751705" y="2004060"/>
            <a:ext cx="76200" cy="554990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7" name="Text 19"/>
          <p:cNvSpPr/>
          <p:nvPr/>
        </p:nvSpPr>
        <p:spPr>
          <a:xfrm>
            <a:off x="4892040" y="2014220"/>
            <a:ext cx="3840480" cy="521335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150" b="1" dirty="0">
                <a:solidFill>
                  <a:srgbClr val="1A1A2E"/>
                </a:solidFill>
              </a:rPr>
              <a:t>Transaction Support</a:t>
            </a:r>
            <a:r>
              <a:rPr lang="en-US" sz="1150" b="1" dirty="0">
                <a:solidFill>
                  <a:srgbClr val="1A1A2E"/>
                </a:solidFill>
              </a:rPr>
              <a:t>: </a:t>
            </a:r>
            <a:r>
              <a:rPr lang="en-US" altLang="en-US" sz="1150" dirty="0"/>
              <a:t>Ensures atomic checkout   operations using </a:t>
            </a:r>
          </a:p>
          <a:p>
            <a:pPr marL="0" indent="0">
              <a:buNone/>
            </a:pPr>
            <a:r>
              <a:rPr lang="en-US" altLang="en-US" sz="1150" dirty="0"/>
              <a:t>COMMIT and ROLLBACK transactions.</a:t>
            </a:r>
          </a:p>
        </p:txBody>
      </p:sp>
      <p:sp>
        <p:nvSpPr>
          <p:cNvPr id="18" name="Shape 20"/>
          <p:cNvSpPr/>
          <p:nvPr/>
        </p:nvSpPr>
        <p:spPr>
          <a:xfrm>
            <a:off x="4827905" y="2660186"/>
            <a:ext cx="4023360" cy="438912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21"/>
          <p:cNvSpPr/>
          <p:nvPr/>
        </p:nvSpPr>
        <p:spPr>
          <a:xfrm>
            <a:off x="4754880" y="2660186"/>
            <a:ext cx="73152" cy="438912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20" name="Text 22"/>
          <p:cNvSpPr/>
          <p:nvPr/>
        </p:nvSpPr>
        <p:spPr>
          <a:xfrm>
            <a:off x="4892040" y="2660186"/>
            <a:ext cx="3840480" cy="438912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150" b="1" dirty="0">
                <a:solidFill>
                  <a:srgbClr val="1A1A2E"/>
                </a:solidFill>
              </a:rPr>
              <a:t>Structured Relationships:</a:t>
            </a:r>
            <a:r>
              <a:rPr lang="en-US" sz="1150" b="1" dirty="0">
                <a:solidFill>
                  <a:srgbClr val="1A1A2E"/>
                </a:solidFill>
              </a:rPr>
              <a:t> </a:t>
            </a:r>
            <a:r>
              <a:rPr lang="en-US" altLang="en-US" sz="1150" dirty="0"/>
              <a:t>Restaurant data is highly structured and naturally modeled using relational tables</a:t>
            </a:r>
          </a:p>
        </p:txBody>
      </p:sp>
      <p:sp>
        <p:nvSpPr>
          <p:cNvPr id="21" name="Shape 23"/>
          <p:cNvSpPr/>
          <p:nvPr/>
        </p:nvSpPr>
        <p:spPr>
          <a:xfrm>
            <a:off x="4754880" y="3147060"/>
            <a:ext cx="4096385" cy="439420"/>
          </a:xfrm>
          <a:prstGeom prst="rect">
            <a:avLst/>
          </a:prstGeom>
          <a:solidFill>
            <a:srgbClr val="DDE8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147739"/>
            <a:ext cx="73152" cy="438912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098800"/>
            <a:ext cx="3959860" cy="52451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150" b="1" dirty="0">
                <a:solidFill>
                  <a:srgbClr val="1A1A2E"/>
                </a:solidFill>
              </a:rPr>
              <a:t>SQL Analytics</a:t>
            </a:r>
            <a:r>
              <a:rPr lang="en-US" sz="1150" b="1" dirty="0">
                <a:solidFill>
                  <a:srgbClr val="1A1A2E"/>
                </a:solidFill>
              </a:rPr>
              <a:t> </a:t>
            </a:r>
            <a:r>
              <a:rPr lang="en-US" altLang="en-US" sz="1150" dirty="0"/>
              <a:t>Supports reporting features such as revenue, top-selling items, and payment statistics.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1A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 dirty="0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Database Purpose &amp; Dataset</a:t>
            </a:r>
            <a:endParaRPr sz="2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Shape 2"/>
          <p:cNvSpPr/>
          <p:nvPr/>
        </p:nvSpPr>
        <p:spPr>
          <a:xfrm>
            <a:off x="365760" y="1239642"/>
            <a:ext cx="3931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3"/>
          <p:cNvSpPr/>
          <p:nvPr/>
        </p:nvSpPr>
        <p:spPr>
          <a:xfrm>
            <a:off x="365760" y="1239642"/>
            <a:ext cx="393192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THE DATABASE DOES</a:t>
            </a:r>
            <a:endParaRPr lang="en-US" sz="1100" dirty="0"/>
          </a:p>
        </p:txBody>
      </p:sp>
      <p:sp>
        <p:nvSpPr>
          <p:cNvPr id="4" name="Shape 4"/>
          <p:cNvSpPr/>
          <p:nvPr/>
        </p:nvSpPr>
        <p:spPr>
          <a:xfrm>
            <a:off x="365760" y="1586865"/>
            <a:ext cx="3931920" cy="2693035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5"/>
          <p:cNvSpPr/>
          <p:nvPr/>
        </p:nvSpPr>
        <p:spPr>
          <a:xfrm>
            <a:off x="502920" y="1587114"/>
            <a:ext cx="3657600" cy="1884630"/>
          </a:xfrm>
          <a:prstGeom prst="rect">
            <a:avLst/>
          </a:prstGeom>
          <a:noFill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altLang="en-US" sz="1200" b="1" dirty="0">
                <a:solidFill>
                  <a:srgbClr val="1A1A2E"/>
                </a:solidFill>
              </a:rPr>
              <a:t>Database Purpose &amp; Dataset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altLang="en-US" sz="1200" dirty="0"/>
              <a:t>Centralized database for restaurant operations.</a:t>
            </a:r>
          </a:p>
          <a:p>
            <a:pPr marL="0" indent="0">
              <a:buNone/>
            </a:pPr>
            <a:endParaRPr lang="en-US" altLang="en-US" sz="1200" dirty="0"/>
          </a:p>
          <a:p>
            <a:pPr marL="0" indent="0">
              <a:buNone/>
            </a:pPr>
            <a:r>
              <a:rPr lang="en-US" altLang="en-US" sz="1200" dirty="0"/>
              <a:t>Stores and manages:</a:t>
            </a:r>
          </a:p>
          <a:p>
            <a:pPr marL="0" indent="0">
              <a:buNone/>
            </a:pPr>
            <a:r>
              <a:rPr lang="en-US" altLang="en-US" sz="1200" dirty="0"/>
              <a:t>• Customer accounts</a:t>
            </a:r>
          </a:p>
          <a:p>
            <a:pPr marL="0" indent="0">
              <a:buNone/>
            </a:pPr>
            <a:r>
              <a:rPr lang="en-US" altLang="en-US" sz="1200" dirty="0"/>
              <a:t>• Menu items</a:t>
            </a:r>
          </a:p>
          <a:p>
            <a:pPr marL="0" indent="0">
              <a:buNone/>
            </a:pPr>
            <a:r>
              <a:rPr lang="en-US" altLang="en-US" sz="1200" dirty="0"/>
              <a:t>• Orders and order items</a:t>
            </a:r>
          </a:p>
          <a:p>
            <a:pPr marL="0" indent="0">
              <a:buNone/>
            </a:pPr>
            <a:r>
              <a:rPr lang="en-US" altLang="en-US" sz="1200" dirty="0"/>
              <a:t>• Payments and invoices</a:t>
            </a:r>
          </a:p>
          <a:p>
            <a:pPr marL="0" indent="0">
              <a:buNone/>
            </a:pPr>
            <a:r>
              <a:rPr lang="en-US" altLang="en-US" sz="1200" dirty="0"/>
              <a:t>• Admin and operational data</a:t>
            </a:r>
          </a:p>
          <a:p>
            <a:pPr marL="0" indent="0">
              <a:buNone/>
            </a:pPr>
            <a:endParaRPr lang="en-US" altLang="en-US" sz="1200" dirty="0"/>
          </a:p>
          <a:p>
            <a:pPr marL="0" indent="0">
              <a:buNone/>
            </a:pPr>
            <a:r>
              <a:rPr lang="en-US" altLang="en-US" sz="1200" dirty="0"/>
              <a:t>Without the database, restaurant data would</a:t>
            </a:r>
          </a:p>
          <a:p>
            <a:pPr marL="0" indent="0">
              <a:buNone/>
            </a:pPr>
            <a:r>
              <a:rPr lang="en-US" altLang="en-US" sz="1200" dirty="0"/>
              <a:t>be scattered and difficult to manage consistently.</a:t>
            </a:r>
          </a:p>
        </p:txBody>
      </p:sp>
      <p:sp>
        <p:nvSpPr>
          <p:cNvPr id="26" name="Shape 2"/>
          <p:cNvSpPr/>
          <p:nvPr/>
        </p:nvSpPr>
        <p:spPr>
          <a:xfrm>
            <a:off x="4709160" y="1246150"/>
            <a:ext cx="3931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3"/>
          <p:cNvSpPr/>
          <p:nvPr/>
        </p:nvSpPr>
        <p:spPr>
          <a:xfrm>
            <a:off x="4709160" y="1246150"/>
            <a:ext cx="393192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</a:t>
            </a:r>
            <a:endParaRPr lang="en-US" sz="1100" dirty="0"/>
          </a:p>
        </p:txBody>
      </p:sp>
      <p:sp>
        <p:nvSpPr>
          <p:cNvPr id="28" name="Shape 4"/>
          <p:cNvSpPr/>
          <p:nvPr/>
        </p:nvSpPr>
        <p:spPr>
          <a:xfrm>
            <a:off x="4709160" y="1593850"/>
            <a:ext cx="3931920" cy="2685415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5"/>
          <p:cNvSpPr/>
          <p:nvPr/>
        </p:nvSpPr>
        <p:spPr>
          <a:xfrm>
            <a:off x="4846320" y="1958340"/>
            <a:ext cx="3657600" cy="1581150"/>
          </a:xfrm>
          <a:prstGeom prst="rect">
            <a:avLst/>
          </a:prstGeom>
          <a:noFill/>
        </p:spPr>
        <p:txBody>
          <a:bodyPr wrap="square" lIns="101600" tIns="101600" rIns="101600" bIns="101600" rtlCol="0" anchor="t"/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200" dirty="0">
                <a:latin typeface="+mn-lt"/>
              </a:rPr>
              <a:t> 4000+ seeded users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200" dirty="0">
                <a:latin typeface="+mn-lt"/>
              </a:rPr>
              <a:t> 50+ menu items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200" dirty="0">
                <a:latin typeface="+mn-lt"/>
              </a:rPr>
              <a:t> 500+ Multiple orders &amp; payments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200" dirty="0">
                <a:latin typeface="+mn-lt"/>
              </a:rPr>
              <a:t> Invoice records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200" dirty="0">
                <a:latin typeface="+mn-lt"/>
              </a:rPr>
              <a:t> Relational schema with PKs/FKs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200" dirty="0">
                <a:latin typeface="+mn-lt"/>
              </a:rPr>
              <a:t> Structured restaurant dataset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65505" y="4535170"/>
            <a:ext cx="7153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/>
              <a:t>We also populated the database with sample seed data to simulate realistic restaurant operations and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1A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 dirty="0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Transactions &amp; Role Based Access</a:t>
            </a:r>
            <a:endParaRPr sz="2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23744" y="1172736"/>
            <a:ext cx="3977640" cy="347472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623744" y="1172736"/>
            <a:ext cx="397764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DAILY TRANSACTIONS SUPPORTED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623744" y="1520208"/>
            <a:ext cx="3977640" cy="475488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9"/>
          <p:cNvSpPr/>
          <p:nvPr/>
        </p:nvSpPr>
        <p:spPr>
          <a:xfrm>
            <a:off x="623744" y="1520208"/>
            <a:ext cx="64008" cy="475488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0" name="Text 10"/>
          <p:cNvSpPr/>
          <p:nvPr/>
        </p:nvSpPr>
        <p:spPr>
          <a:xfrm>
            <a:off x="760730" y="1601470"/>
            <a:ext cx="4130675" cy="29337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150" b="1" dirty="0">
                <a:solidFill>
                  <a:srgbClr val="1A1A2E"/>
                </a:solidFill>
              </a:rPr>
              <a:t>Customer Login</a:t>
            </a:r>
            <a:r>
              <a:rPr lang="en-US" sz="1150" b="1" dirty="0">
                <a:solidFill>
                  <a:srgbClr val="1A1A2E"/>
                </a:solidFill>
              </a:rPr>
              <a:t>
</a:t>
            </a:r>
            <a:r>
              <a:rPr lang="en-US" altLang="en-US" sz="1000" dirty="0"/>
              <a:t>User authentication and session creation through backend</a:t>
            </a:r>
          </a:p>
          <a:p>
            <a:pPr marL="0" indent="0">
              <a:buNone/>
            </a:pPr>
            <a:r>
              <a:rPr lang="en-US" altLang="en-US" sz="1000" dirty="0"/>
              <a:t> API routes.</a:t>
            </a:r>
          </a:p>
        </p:txBody>
      </p:sp>
      <p:sp>
        <p:nvSpPr>
          <p:cNvPr id="11" name="Shape 11"/>
          <p:cNvSpPr/>
          <p:nvPr/>
        </p:nvSpPr>
        <p:spPr>
          <a:xfrm>
            <a:off x="623744" y="2023128"/>
            <a:ext cx="3977640" cy="475488"/>
          </a:xfrm>
          <a:prstGeom prst="rect">
            <a:avLst/>
          </a:prstGeom>
          <a:solidFill>
            <a:srgbClr val="DDE8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623744" y="2023128"/>
            <a:ext cx="64008" cy="475488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760904" y="2023128"/>
            <a:ext cx="3776472" cy="47548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1A2E"/>
                </a:solidFill>
              </a:rPr>
              <a:t>Menu Browsing</a:t>
            </a:r>
          </a:p>
          <a:p>
            <a:pPr marL="0" indent="0">
              <a:buNone/>
            </a:pPr>
            <a:r>
              <a:rPr lang="en-US" altLang="en-US" sz="1000" dirty="0"/>
              <a:t>Customers browse categorized menu items</a:t>
            </a:r>
          </a:p>
          <a:p>
            <a:pPr marL="0" indent="0">
              <a:buNone/>
            </a:pPr>
            <a:r>
              <a:rPr lang="en-US" altLang="en-US" sz="1000" dirty="0"/>
              <a:t>fetched dynamically from the database.</a:t>
            </a:r>
          </a:p>
        </p:txBody>
      </p:sp>
      <p:sp>
        <p:nvSpPr>
          <p:cNvPr id="14" name="Shape 14"/>
          <p:cNvSpPr/>
          <p:nvPr/>
        </p:nvSpPr>
        <p:spPr>
          <a:xfrm>
            <a:off x="623744" y="2526048"/>
            <a:ext cx="3977640" cy="475488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5"/>
          <p:cNvSpPr/>
          <p:nvPr/>
        </p:nvSpPr>
        <p:spPr>
          <a:xfrm>
            <a:off x="623744" y="2526048"/>
            <a:ext cx="64008" cy="475488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6" name="Text 16"/>
          <p:cNvSpPr/>
          <p:nvPr/>
        </p:nvSpPr>
        <p:spPr>
          <a:xfrm>
            <a:off x="760904" y="2526048"/>
            <a:ext cx="3776472" cy="47548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1A2E"/>
                </a:solidFill>
              </a:rPr>
              <a:t>Cart &amp; Checkou</a:t>
            </a:r>
            <a:r>
              <a:rPr lang="en-US" altLang="en-US" sz="1000" b="1" dirty="0">
                <a:solidFill>
                  <a:srgbClr val="1A1A2E"/>
                </a:solidFill>
              </a:rPr>
              <a:t>t</a:t>
            </a:r>
          </a:p>
          <a:p>
            <a:pPr marL="0" indent="0">
              <a:buNone/>
            </a:pPr>
            <a:r>
              <a:rPr lang="en-US" altLang="en-US" sz="1000" dirty="0"/>
              <a:t>Cart items processed into orders,</a:t>
            </a:r>
          </a:p>
          <a:p>
            <a:pPr marL="0" indent="0">
              <a:buNone/>
            </a:pPr>
            <a:r>
              <a:rPr lang="en-US" altLang="en-US" sz="1000" dirty="0"/>
              <a:t>payments, and order items using SQL transactions</a:t>
            </a:r>
            <a:r>
              <a:rPr lang="en-US" altLang="en-US" sz="1150" dirty="0"/>
              <a:t>.</a:t>
            </a:r>
          </a:p>
        </p:txBody>
      </p:sp>
      <p:sp>
        <p:nvSpPr>
          <p:cNvPr id="17" name="Shape 17"/>
          <p:cNvSpPr/>
          <p:nvPr/>
        </p:nvSpPr>
        <p:spPr>
          <a:xfrm>
            <a:off x="623744" y="3028968"/>
            <a:ext cx="3977640" cy="475488"/>
          </a:xfrm>
          <a:prstGeom prst="rect">
            <a:avLst/>
          </a:prstGeom>
          <a:solidFill>
            <a:srgbClr val="DDE8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8"/>
          <p:cNvSpPr/>
          <p:nvPr/>
        </p:nvSpPr>
        <p:spPr>
          <a:xfrm>
            <a:off x="623744" y="3028968"/>
            <a:ext cx="64008" cy="475488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760904" y="3028968"/>
            <a:ext cx="3776472" cy="47548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1A2E"/>
                </a:solidFill>
              </a:rPr>
              <a:t>Order Processing</a:t>
            </a:r>
          </a:p>
          <a:p>
            <a:pPr marL="0" indent="0">
              <a:buNone/>
            </a:pPr>
            <a:r>
              <a:rPr lang="en-US" altLang="en-US" sz="1000" dirty="0"/>
              <a:t>Orders tracked and updated through</a:t>
            </a:r>
          </a:p>
          <a:p>
            <a:pPr marL="0" indent="0">
              <a:buNone/>
            </a:pPr>
            <a:r>
              <a:rPr lang="en-US" altLang="en-US" sz="1000" dirty="0"/>
              <a:t>different preparation and delivery stages.</a:t>
            </a:r>
          </a:p>
        </p:txBody>
      </p:sp>
      <p:sp>
        <p:nvSpPr>
          <p:cNvPr id="20" name="Shape 20"/>
          <p:cNvSpPr/>
          <p:nvPr/>
        </p:nvSpPr>
        <p:spPr>
          <a:xfrm>
            <a:off x="623744" y="3531888"/>
            <a:ext cx="3977640" cy="475488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623744" y="3531888"/>
            <a:ext cx="64008" cy="475488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760904" y="3531888"/>
            <a:ext cx="3776472" cy="47548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150" b="1" dirty="0">
                <a:solidFill>
                  <a:srgbClr val="1A1A2E"/>
                </a:solidFill>
              </a:rPr>
              <a:t>Payment Recording</a:t>
            </a:r>
            <a:r>
              <a:rPr lang="en-US" sz="1150" b="1" dirty="0">
                <a:solidFill>
                  <a:srgbClr val="1A1A2E"/>
                </a:solidFill>
              </a:rPr>
              <a:t>
</a:t>
            </a:r>
            <a:r>
              <a:rPr lang="en-US" altLang="en-US" sz="1000" dirty="0"/>
              <a:t>Payment information stored and linked</a:t>
            </a:r>
          </a:p>
          <a:p>
            <a:pPr marL="0" indent="0">
              <a:buNone/>
            </a:pPr>
            <a:r>
              <a:rPr lang="en-US" altLang="en-US" sz="1000" dirty="0"/>
              <a:t>with customer orders and invoices.</a:t>
            </a:r>
          </a:p>
        </p:txBody>
      </p:sp>
      <p:sp>
        <p:nvSpPr>
          <p:cNvPr id="23" name="Shape 23"/>
          <p:cNvSpPr/>
          <p:nvPr/>
        </p:nvSpPr>
        <p:spPr>
          <a:xfrm>
            <a:off x="623744" y="4034808"/>
            <a:ext cx="3977640" cy="475488"/>
          </a:xfrm>
          <a:prstGeom prst="rect">
            <a:avLst/>
          </a:prstGeom>
          <a:solidFill>
            <a:srgbClr val="DDE8F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623744" y="4034808"/>
            <a:ext cx="64008" cy="475488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760904" y="4034808"/>
            <a:ext cx="3776472" cy="47548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1A2E"/>
                </a:solidFill>
              </a:rPr>
              <a:t>Admin Operations</a:t>
            </a:r>
          </a:p>
          <a:p>
            <a:pPr marL="0" indent="0">
              <a:buNone/>
            </a:pPr>
            <a:r>
              <a:rPr lang="en-US" altLang="en-US" sz="1000" dirty="0"/>
              <a:t>Admins manage users, orders,</a:t>
            </a:r>
          </a:p>
          <a:p>
            <a:pPr marL="0" indent="0">
              <a:buNone/>
            </a:pPr>
            <a:r>
              <a:rPr lang="en-US" altLang="en-US" sz="1000" dirty="0"/>
              <a:t>payments, and business statistics.</a:t>
            </a:r>
          </a:p>
        </p:txBody>
      </p:sp>
      <p:sp>
        <p:nvSpPr>
          <p:cNvPr id="28" name="Shape 26"/>
          <p:cNvSpPr/>
          <p:nvPr/>
        </p:nvSpPr>
        <p:spPr>
          <a:xfrm>
            <a:off x="4754880" y="1458959"/>
            <a:ext cx="4023360" cy="347472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458959"/>
            <a:ext cx="402336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 BASED ACCESS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806431"/>
            <a:ext cx="4023360" cy="347472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9"/>
          <p:cNvSpPr/>
          <p:nvPr/>
        </p:nvSpPr>
        <p:spPr>
          <a:xfrm>
            <a:off x="4754880" y="1806431"/>
            <a:ext cx="73152" cy="347472"/>
          </a:xfrm>
          <a:prstGeom prst="rect">
            <a:avLst/>
          </a:prstGeom>
          <a:solidFill>
            <a:srgbClr val="7A9BD4"/>
          </a:solidFill>
          <a:ln w="12700">
            <a:solidFill>
              <a:srgbClr val="7A9BD4"/>
            </a:solidFill>
            <a:prstDash val="solid"/>
          </a:ln>
        </p:spPr>
      </p:sp>
      <p:sp>
        <p:nvSpPr>
          <p:cNvPr id="27" name="Text 30"/>
          <p:cNvSpPr/>
          <p:nvPr/>
        </p:nvSpPr>
        <p:spPr>
          <a:xfrm>
            <a:off x="4892040" y="1806431"/>
            <a:ext cx="3840480" cy="347472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altLang="en-US" sz="1100" b="1" dirty="0">
                <a:solidFill>
                  <a:srgbClr val="1A1A2E"/>
                </a:solidFill>
              </a:rPr>
              <a:t>Customer</a:t>
            </a:r>
            <a:r>
              <a:rPr lang="en-US" sz="1100" b="1" dirty="0">
                <a:solidFill>
                  <a:srgbClr val="1A1A2E"/>
                </a:solidFill>
              </a:rPr>
              <a:t>: </a:t>
            </a:r>
            <a:r>
              <a:rPr lang="en-US" altLang="en-US" sz="1100" dirty="0"/>
              <a:t>Browse menu, place orders,</a:t>
            </a:r>
          </a:p>
          <a:p>
            <a:pPr marL="0" indent="0">
              <a:buNone/>
            </a:pPr>
            <a:r>
              <a:rPr lang="en-US" altLang="en-US" sz="1100" dirty="0"/>
              <a:t>view invoices and profile.</a:t>
            </a:r>
          </a:p>
        </p:txBody>
      </p:sp>
      <p:sp>
        <p:nvSpPr>
          <p:cNvPr id="34" name="Shape 31"/>
          <p:cNvSpPr/>
          <p:nvPr/>
        </p:nvSpPr>
        <p:spPr>
          <a:xfrm>
            <a:off x="4754880" y="2181335"/>
            <a:ext cx="4023360" cy="347472"/>
          </a:xfrm>
          <a:prstGeom prst="rect">
            <a:avLst/>
          </a:prstGeom>
          <a:solidFill>
            <a:srgbClr val="DDE8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54880" y="2181335"/>
            <a:ext cx="73152" cy="347472"/>
          </a:xfrm>
          <a:prstGeom prst="rect">
            <a:avLst/>
          </a:prstGeom>
          <a:solidFill>
            <a:srgbClr val="7A9BD4"/>
          </a:solidFill>
          <a:ln w="12700">
            <a:solidFill>
              <a:srgbClr val="7A9BD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92040" y="2181335"/>
            <a:ext cx="3840480" cy="347472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altLang="en-US" sz="1100" b="1" dirty="0">
                <a:solidFill>
                  <a:srgbClr val="1A1A2E"/>
                </a:solidFill>
              </a:rPr>
              <a:t>Admin</a:t>
            </a:r>
            <a:r>
              <a:rPr lang="en-US" sz="1100" b="1" dirty="0">
                <a:solidFill>
                  <a:srgbClr val="1A1A2E"/>
                </a:solidFill>
              </a:rPr>
              <a:t>: </a:t>
            </a:r>
            <a:r>
              <a:rPr lang="en-US" altLang="en-US" sz="1100" dirty="0"/>
              <a:t>Manage users, orders,</a:t>
            </a:r>
          </a:p>
          <a:p>
            <a:pPr marL="0" indent="0">
              <a:buNone/>
            </a:pPr>
            <a:r>
              <a:rPr lang="en-US" altLang="en-US" sz="1100" dirty="0"/>
              <a:t>payments, and dashboard statistics.</a:t>
            </a:r>
          </a:p>
        </p:txBody>
      </p:sp>
      <p:sp>
        <p:nvSpPr>
          <p:cNvPr id="37" name="Shape 34"/>
          <p:cNvSpPr/>
          <p:nvPr/>
        </p:nvSpPr>
        <p:spPr>
          <a:xfrm>
            <a:off x="4754880" y="2556239"/>
            <a:ext cx="4023360" cy="347472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54880" y="2556239"/>
            <a:ext cx="73152" cy="347472"/>
          </a:xfrm>
          <a:prstGeom prst="rect">
            <a:avLst/>
          </a:prstGeom>
          <a:solidFill>
            <a:srgbClr val="7A9BD4"/>
          </a:solidFill>
          <a:ln w="12700">
            <a:solidFill>
              <a:srgbClr val="7A9BD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92040" y="2556239"/>
            <a:ext cx="3840480" cy="347472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altLang="en-US" sz="1100" b="1" dirty="0">
                <a:solidFill>
                  <a:srgbClr val="1A1A2E"/>
                </a:solidFill>
              </a:rPr>
              <a:t>Kitchen Staff</a:t>
            </a:r>
            <a:r>
              <a:rPr lang="en-US" sz="1100" b="1" dirty="0">
                <a:solidFill>
                  <a:srgbClr val="1A1A2E"/>
                </a:solidFill>
              </a:rPr>
              <a:t>: </a:t>
            </a:r>
            <a:r>
              <a:rPr lang="en-US" altLang="en-US" sz="1100" dirty="0"/>
              <a:t>View and update order</a:t>
            </a:r>
          </a:p>
          <a:p>
            <a:pPr marL="0" indent="0">
              <a:buNone/>
            </a:pPr>
            <a:r>
              <a:rPr lang="en-US" altLang="en-US" sz="1100" dirty="0"/>
              <a:t>preparation statuses only.</a:t>
            </a:r>
          </a:p>
        </p:txBody>
      </p:sp>
      <p:sp>
        <p:nvSpPr>
          <p:cNvPr id="2" name="Shape 34"/>
          <p:cNvSpPr/>
          <p:nvPr/>
        </p:nvSpPr>
        <p:spPr>
          <a:xfrm>
            <a:off x="4754880" y="2908935"/>
            <a:ext cx="4023360" cy="428625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indent="0">
              <a:buNone/>
            </a:pPr>
            <a:r>
              <a:rPr lang="en-US" altLang="en-US" sz="1200" dirty="0">
                <a:sym typeface="+mn-ea"/>
              </a:rPr>
              <a:t> </a:t>
            </a:r>
            <a:r>
              <a:rPr lang="en-US" altLang="en-US" sz="1200" b="1" dirty="0">
                <a:sym typeface="+mn-ea"/>
              </a:rPr>
              <a:t>Analyst :</a:t>
            </a:r>
            <a:r>
              <a:rPr lang="en-US" altLang="en-US" sz="1200" dirty="0">
                <a:sym typeface="+mn-ea"/>
              </a:rPr>
              <a:t> Read-only access for</a:t>
            </a:r>
          </a:p>
          <a:p>
            <a:pPr marL="0" indent="0">
              <a:buNone/>
            </a:pPr>
            <a:r>
              <a:rPr lang="en-US" altLang="en-US" sz="1200" dirty="0">
                <a:sym typeface="+mn-ea"/>
              </a:rPr>
              <a:t> sales and operational reporting.</a:t>
            </a:r>
          </a:p>
        </p:txBody>
      </p:sp>
      <p:sp>
        <p:nvSpPr>
          <p:cNvPr id="3" name="Shape 35"/>
          <p:cNvSpPr/>
          <p:nvPr/>
        </p:nvSpPr>
        <p:spPr>
          <a:xfrm>
            <a:off x="4751705" y="2931795"/>
            <a:ext cx="76200" cy="396875"/>
          </a:xfrm>
          <a:prstGeom prst="rect">
            <a:avLst/>
          </a:prstGeom>
          <a:solidFill>
            <a:srgbClr val="7A9BD4"/>
          </a:solidFill>
          <a:ln w="12700">
            <a:solidFill>
              <a:srgbClr val="7A9B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457200" y="159893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1B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3429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Entity Relationship Diagram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342773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89735" y="1165860"/>
            <a:ext cx="256032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Challenges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AutoNum type="arabicPeriod"/>
            </a:pPr>
            <a:r>
              <a:rPr lang="en-US" altLang="en-US" sz="13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ProblemsEncountered (ERD/Normalisation) 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AutoNum type="arabicPeriod"/>
            </a:pPr>
            <a:endParaRPr lang="en-US" altLang="en-US" sz="13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None/>
            </a:pPr>
            <a:r>
              <a:rPr lang="en-US" altLang="en-US" sz="13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Early database design stored several dishes inside a single order row, creating repeating groups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None/>
            </a:pPr>
            <a:r>
              <a:rPr lang="en-US" altLang="en-US" sz="13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and violating First Normal Form (1NF).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None/>
            </a:pPr>
            <a:endParaRPr lang="en-US" altLang="en-US" sz="13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None/>
            </a:pPr>
            <a:r>
              <a:rPr lang="en-US" altLang="en-US" sz="13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Resolution:</a:t>
            </a:r>
            <a:r>
              <a:rPr lang="en-US" altLang="en-US" sz="13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The structure was normalised by separating the data into Orders and OrderItems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None/>
            </a:pPr>
            <a:r>
              <a:rPr lang="en-US" altLang="en-US" sz="13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tables, where each ordered dish is stored as an individual row with its own quantity and price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None/>
            </a:pPr>
            <a:r>
              <a:rPr lang="en-US" altLang="en-US" sz="13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information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79" y="937260"/>
            <a:ext cx="3462729" cy="38745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1B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 dirty="0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Data Dictionary</a:t>
            </a:r>
            <a:endParaRPr sz="2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" y="1155065"/>
            <a:ext cx="2709545" cy="14262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95" y="2712085"/>
            <a:ext cx="2748915" cy="13671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4205" y="302895"/>
            <a:ext cx="2816225" cy="13550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4205" y="1855470"/>
            <a:ext cx="2834005" cy="12287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4205" y="3281680"/>
            <a:ext cx="2804160" cy="12179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7425" y="457200"/>
            <a:ext cx="2868930" cy="11804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9330" y="1788160"/>
            <a:ext cx="2844165" cy="895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9340" y="2680335"/>
            <a:ext cx="2763520" cy="551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2A / 2B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 dirty="0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Implementation — Schema</a:t>
            </a:r>
            <a:endParaRPr sz="2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5B6BF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CREATE TABLE Scripts (Task 2a)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57200" y="1618488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E1E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5B6BF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Sample Data (Task 2b)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846320" y="1618488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72" name="Google Shape;72;p6"/>
          <p:cNvCxnSpPr/>
          <p:nvPr/>
        </p:nvCxnSpPr>
        <p:spPr>
          <a:xfrm>
            <a:off x="4544568" y="1234440"/>
            <a:ext cx="0" cy="3566160"/>
          </a:xfrm>
          <a:prstGeom prst="straightConnector1">
            <a:avLst/>
          </a:prstGeom>
          <a:noFill/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1803400"/>
            <a:ext cx="4481195" cy="2428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990" y="1798955"/>
            <a:ext cx="4458335" cy="2435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2C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SQL Queries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83" name="Google Shape;83;p7"/>
          <p:cNvGraphicFramePr/>
          <p:nvPr/>
        </p:nvGraphicFramePr>
        <p:xfrm>
          <a:off x="457200" y="1280160"/>
          <a:ext cx="8229600" cy="3182180"/>
        </p:xfrm>
        <a:graphic>
          <a:graphicData uri="http://schemas.openxmlformats.org/drawingml/2006/table">
            <a:tbl>
              <a:tblPr>
                <a:noFill/>
                <a:tableStyleId>{BE14C9F5-EC72-42D0-B2B6-CF4E28AC30DD}</a:tableStyleId>
              </a:tblPr>
              <a:tblGrid>
                <a:gridCol w="640075"/>
                <a:gridCol w="4389125"/>
                <a:gridCol w="3200400"/>
              </a:tblGrid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#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6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Query Purpose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6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Key Features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6BF5"/>
                    </a:solidFill>
                  </a:tcPr>
                </a:tc>
              </a:tr>
              <a:tr h="481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Q1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High-value customer orders with customer details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US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CTE, JOIN, WHERE, ORDER BY, LIMIT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Q2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Menu category analysis with average pricing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US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GROUP BY, COUNT, AVG, ROUND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Q3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Order status tracking and updates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US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SELECT, UPDATE, Conditional Filtering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Q4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Remove expired inactive coupons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US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DELETE, Date Filtering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Q5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Customer order history and lifetime spending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US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LEFT JOIN, GROUP BY, HAVING, Aggregation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4" name="Google Shape;84;p7"/>
          <p:cNvSpPr/>
          <p:nvPr/>
        </p:nvSpPr>
        <p:spPr>
          <a:xfrm>
            <a:off x="502920" y="449884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2D / 2E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 dirty="0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</a:t>
            </a:r>
            <a:r>
              <a:rPr lang="en-US" sz="2600" b="1" dirty="0" smtClean="0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FIVE SQL QUERIES</a:t>
            </a:r>
          </a:p>
        </p:txBody>
      </p:sp>
      <p:sp>
        <p:nvSpPr>
          <p:cNvPr id="92" name="Google Shape;92;p8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57200" y="1161415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Query 1</a:t>
            </a:r>
          </a:p>
        </p:txBody>
      </p:sp>
      <p:sp>
        <p:nvSpPr>
          <p:cNvPr id="94" name="Google Shape;94;p8"/>
          <p:cNvSpPr/>
          <p:nvPr/>
        </p:nvSpPr>
        <p:spPr>
          <a:xfrm>
            <a:off x="457200" y="1618488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 panose="020F0502020204030204"/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Query 2</a:t>
            </a:r>
          </a:p>
        </p:txBody>
      </p:sp>
      <p:sp>
        <p:nvSpPr>
          <p:cNvPr id="96" name="Google Shape;96;p8"/>
          <p:cNvSpPr/>
          <p:nvPr/>
        </p:nvSpPr>
        <p:spPr>
          <a:xfrm>
            <a:off x="4846320" y="1618488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 panose="020F0502020204030204"/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97" name="Google Shape;97;p8"/>
          <p:cNvCxnSpPr/>
          <p:nvPr/>
        </p:nvCxnSpPr>
        <p:spPr>
          <a:xfrm>
            <a:off x="4544568" y="1234440"/>
            <a:ext cx="0" cy="3566160"/>
          </a:xfrm>
          <a:prstGeom prst="straightConnector1">
            <a:avLst/>
          </a:prstGeom>
          <a:noFill/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8"/>
          <p:cNvSpPr/>
          <p:nvPr/>
        </p:nvSpPr>
        <p:spPr>
          <a:xfrm>
            <a:off x="502920" y="449884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100"/>
              <a:buFont typeface="Calibri" panose="020F0502020204030204"/>
              <a:buNone/>
            </a:pPr>
            <a:r>
              <a:rPr lang="en-US" sz="1100" i="1">
                <a:solidFill>
                  <a:srgbClr val="5B6BF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3" y="1632611"/>
            <a:ext cx="4032505" cy="33318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8" y="1663984"/>
            <a:ext cx="4057038" cy="32008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2D / 2E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1E1E2E"/>
              </a:buClr>
              <a:buSzPts val="2600"/>
            </a:pPr>
            <a:r>
              <a:rPr lang="en-US" sz="2600" b="1" dirty="0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FIVE SQL QUERIES</a:t>
            </a:r>
          </a:p>
        </p:txBody>
      </p:sp>
      <p:sp>
        <p:nvSpPr>
          <p:cNvPr id="92" name="Google Shape;92;p8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57200" y="1161415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200"/>
              <a:buFont typeface="Calibri" panose="020F0502020204030204"/>
              <a:buNone/>
            </a:pPr>
            <a:r>
              <a:rPr lang="en-US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Query </a:t>
            </a:r>
            <a:r>
              <a:rPr lang="en-US" sz="1200" b="1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lang="en-US" sz="12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457200" y="1618488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 panose="020F0502020204030204"/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200"/>
              <a:buFont typeface="Calibri" panose="020F0502020204030204"/>
              <a:buNone/>
            </a:pPr>
            <a:r>
              <a:rPr lang="en-US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Query </a:t>
            </a:r>
            <a:r>
              <a:rPr lang="en-US" sz="1200" b="1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lang="en-US" sz="12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846320" y="1618488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 panose="020F0502020204030204"/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97" name="Google Shape;97;p8"/>
          <p:cNvCxnSpPr/>
          <p:nvPr/>
        </p:nvCxnSpPr>
        <p:spPr>
          <a:xfrm>
            <a:off x="4544568" y="1234440"/>
            <a:ext cx="0" cy="3566160"/>
          </a:xfrm>
          <a:prstGeom prst="straightConnector1">
            <a:avLst/>
          </a:prstGeom>
          <a:noFill/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8"/>
          <p:cNvSpPr/>
          <p:nvPr/>
        </p:nvSpPr>
        <p:spPr>
          <a:xfrm>
            <a:off x="502920" y="449884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100"/>
              <a:buFont typeface="Calibri" panose="020F0502020204030204"/>
              <a:buNone/>
            </a:pPr>
            <a:r>
              <a:rPr lang="en-US" sz="1100" i="1">
                <a:solidFill>
                  <a:srgbClr val="5B6BF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39" y="1485437"/>
            <a:ext cx="3667637" cy="33151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7" y="1737360"/>
            <a:ext cx="4363059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69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2D / 2E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 dirty="0" smtClean="0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Transactions</a:t>
            </a:r>
            <a:endParaRPr sz="2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57200" y="1161415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200"/>
              <a:buFont typeface="Calibri" panose="020F0502020204030204"/>
              <a:buNone/>
            </a:pPr>
            <a:r>
              <a:rPr lang="en-US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Query </a:t>
            </a:r>
            <a:r>
              <a:rPr lang="en-US" sz="1200" b="1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US" sz="12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457200" y="1618488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 panose="020F0502020204030204"/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200"/>
              <a:buFont typeface="Calibri" panose="020F0502020204030204"/>
              <a:buNone/>
            </a:pPr>
            <a:r>
              <a:rPr lang="en-US" sz="1200" b="1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Query 2</a:t>
            </a:r>
            <a:endParaRPr lang="en-US" sz="12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846320" y="1618488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 panose="020F0502020204030204"/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97" name="Google Shape;97;p8"/>
          <p:cNvCxnSpPr/>
          <p:nvPr/>
        </p:nvCxnSpPr>
        <p:spPr>
          <a:xfrm>
            <a:off x="4544568" y="1234440"/>
            <a:ext cx="0" cy="3566160"/>
          </a:xfrm>
          <a:prstGeom prst="straightConnector1">
            <a:avLst/>
          </a:prstGeom>
          <a:noFill/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8"/>
          <p:cNvSpPr/>
          <p:nvPr/>
        </p:nvSpPr>
        <p:spPr>
          <a:xfrm>
            <a:off x="502920" y="449884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100"/>
              <a:buFont typeface="Calibri" panose="020F0502020204030204"/>
              <a:buNone/>
            </a:pPr>
            <a:r>
              <a:rPr lang="en-US" sz="1100" i="1">
                <a:solidFill>
                  <a:srgbClr val="5B6BF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" y="1501140"/>
            <a:ext cx="2189480" cy="34550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365" y="1554480"/>
            <a:ext cx="324802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883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74040" y="414020"/>
            <a:ext cx="39071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/>
              <a:t>Role-Based Access Control (RBAC)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75970" y="94615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What is RBAC?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75970" y="332105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Why RBAC?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237615" y="1427480"/>
            <a:ext cx="304800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Role-Based Access Control restricts database access</a:t>
            </a:r>
          </a:p>
          <a:p>
            <a:r>
              <a:rPr lang="en-US" altLang="en-US"/>
              <a:t>based on organizational responsibilities.</a:t>
            </a:r>
          </a:p>
          <a:p>
            <a:endParaRPr lang="en-US" altLang="en-US"/>
          </a:p>
          <a:p>
            <a:r>
              <a:rPr lang="en-US" altLang="en-US"/>
              <a:t>Different users receive different permissions</a:t>
            </a:r>
          </a:p>
          <a:p>
            <a:r>
              <a:rPr lang="en-US" altLang="en-US"/>
              <a:t>according to their operational role.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237615" y="384048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• Improves database security</a:t>
            </a:r>
          </a:p>
          <a:p>
            <a:r>
              <a:rPr lang="en-US" altLang="en-US"/>
              <a:t>• Prevents unauthorized access</a:t>
            </a:r>
          </a:p>
          <a:p>
            <a:r>
              <a:rPr lang="en-US" altLang="en-US"/>
              <a:t>• Protects sensitive information</a:t>
            </a:r>
          </a:p>
          <a:p>
            <a:r>
              <a:rPr lang="en-US" altLang="en-US"/>
              <a:t>• Follows least-privilege principle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4872355" y="1725930"/>
          <a:ext cx="4131310" cy="1901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5655"/>
                <a:gridCol w="2065655"/>
              </a:tblGrid>
              <a:tr h="503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Permissions</a:t>
                      </a:r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fb_ops_admin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Full CRUD access</a:t>
                      </a:r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fb_kitchen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Order management access</a:t>
                      </a:r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fb_analyst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Read-only analytical access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2" name="Google Shape;92;p8"/>
          <p:cNvSpPr/>
          <p:nvPr/>
        </p:nvSpPr>
        <p:spPr>
          <a:xfrm>
            <a:off x="457200" y="293243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3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Web Application Front End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11480" y="1280160"/>
            <a:ext cx="2560320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100"/>
              <a:buFont typeface="Calibri" panose="020F0502020204030204"/>
              <a:buNone/>
            </a:pP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11480" y="3255264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Home / Dashboard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3246120" y="1280160"/>
            <a:ext cx="2560320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100"/>
              <a:buFont typeface="Calibri" panose="020F0502020204030204"/>
              <a:buNone/>
            </a:pP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6080760" y="1280160"/>
            <a:ext cx="2560320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100"/>
              <a:buFont typeface="Calibri" panose="020F0502020204030204"/>
              <a:buNone/>
            </a:pP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502920" y="449884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81610" y="1664335"/>
            <a:ext cx="409067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/>
              <a:t>Frontend Features</a:t>
            </a:r>
          </a:p>
          <a:p>
            <a:endParaRPr lang="en-US" altLang="en-US"/>
          </a:p>
          <a:p>
            <a:r>
              <a:rPr lang="en-US" altLang="en-US"/>
              <a:t>• Responsive React-based UI</a:t>
            </a:r>
          </a:p>
          <a:p>
            <a:r>
              <a:rPr lang="en-US" altLang="en-US"/>
              <a:t>• Dynamic menu browsing</a:t>
            </a:r>
          </a:p>
          <a:p>
            <a:r>
              <a:rPr lang="en-US" altLang="en-US"/>
              <a:t>• Cart and checkout system</a:t>
            </a:r>
          </a:p>
          <a:p>
            <a:r>
              <a:rPr lang="en-US" altLang="en-US"/>
              <a:t>• Customer dashboard</a:t>
            </a:r>
          </a:p>
          <a:p>
            <a:r>
              <a:rPr lang="en-US" altLang="en-US"/>
              <a:t>• Admin ERP dashboard</a:t>
            </a:r>
          </a:p>
          <a:p>
            <a:r>
              <a:rPr lang="en-US" altLang="en-US"/>
              <a:t>• Real-time API integration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476115" y="1664335"/>
            <a:ext cx="4210685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/>
              <a:t>Frontend Technologies</a:t>
            </a:r>
          </a:p>
          <a:p>
            <a:endParaRPr lang="en-US" altLang="en-US"/>
          </a:p>
          <a:p>
            <a:r>
              <a:rPr lang="en-US" altLang="en-US"/>
              <a:t>• Next.js App Router</a:t>
            </a:r>
          </a:p>
          <a:p>
            <a:r>
              <a:rPr lang="en-US" altLang="en-US"/>
              <a:t>• React Client Components</a:t>
            </a:r>
          </a:p>
          <a:p>
            <a:r>
              <a:rPr lang="en-US" altLang="en-US"/>
              <a:t>• Tailwind CSS</a:t>
            </a:r>
          </a:p>
          <a:p>
            <a:r>
              <a:rPr lang="en-US" altLang="en-US"/>
              <a:t>• TypeScript</a:t>
            </a:r>
          </a:p>
          <a:p>
            <a:r>
              <a:rPr lang="en-US" altLang="en-US"/>
              <a:t>• Fetch API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386840" y="4069715"/>
            <a:ext cx="5660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tGPT Image May 12, 2026, 12_05_21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05" y="785495"/>
            <a:ext cx="6320790" cy="42138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30375" y="297815"/>
            <a:ext cx="568388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b="1">
                <a:sym typeface="+mn-ea"/>
              </a:rPr>
              <a:t>The frontend communicates with backend API routes</a:t>
            </a:r>
            <a:endParaRPr lang="en-US" altLang="en-US" b="1"/>
          </a:p>
          <a:p>
            <a:pPr algn="ctr"/>
            <a:r>
              <a:rPr lang="en-US" altLang="en-US" b="1">
                <a:sym typeface="+mn-ea"/>
              </a:rPr>
              <a:t>instead of directly accessing the database.</a:t>
            </a:r>
            <a:endParaRPr lang="en-US" b="1"/>
          </a:p>
          <a:p>
            <a:pPr algn="ctr"/>
            <a:endParaRPr lang="en-US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65" y="606425"/>
            <a:ext cx="8840470" cy="3930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7850"/>
            <a:ext cx="9144000" cy="39871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6580"/>
            <a:ext cx="9144000" cy="39897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57250" y="2190750"/>
            <a:ext cx="7411720" cy="762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/>
              <a:t>Create Account </a:t>
            </a:r>
          </a:p>
          <a:p>
            <a:pPr algn="ctr"/>
            <a:r>
              <a:rPr lang="en-US" b="1"/>
              <a:t>And order from Phone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733</Words>
  <Application>Microsoft Office PowerPoint</Application>
  <PresentationFormat>On-screen Show (16:9)</PresentationFormat>
  <Paragraphs>182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Imran</cp:lastModifiedBy>
  <cp:revision>10</cp:revision>
  <dcterms:created xsi:type="dcterms:W3CDTF">2026-04-26T18:05:00Z</dcterms:created>
  <dcterms:modified xsi:type="dcterms:W3CDTF">2026-05-12T09:13:53Z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79CC28A8D23440C485B7CE989640AE73_13</vt:lpwstr>
  </property>
</Properties>
</file>